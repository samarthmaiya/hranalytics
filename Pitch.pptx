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radwaj, Deepak" initials="BD" lastIdx="1" clrIdx="0">
    <p:extLst>
      <p:ext uri="{19B8F6BF-5375-455C-9EA6-DF929625EA0E}">
        <p15:presenceInfo xmlns:p15="http://schemas.microsoft.com/office/powerpoint/2012/main" userId="S::Deepak.Bharadwaj@team.telstra.com::b82c689f-7de9-4ff8-a7cd-bd4d33c294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9-03T18:15:45.052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65C74-C4B2-4D02-A475-DCDD70B1F515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153CD-9FCD-404A-B83A-9EEB57CDDC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774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Current challenge</a:t>
            </a:r>
            <a:r>
              <a:rPr lang="en-IN" dirty="0"/>
              <a:t>: How can Telstra more efficiently match employee skills with future demands to better utilise, engage and retain our people and help reimagine career paths across business lines.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153CD-9FCD-404A-B83A-9EEB57CDDC5C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223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D224-36FC-43A3-B2B3-307E915B7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FEB04-D64F-450D-A040-B8AD12CA0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090F3-9EF7-48F3-8822-14ACA9199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41D53-84A7-4203-AF6F-E1F2C0BE8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83208-DC9C-4A41-8AD3-68B9B8E9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52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2C73-B06A-4A66-A7CF-1E671CCD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42BC9-35AF-403C-AB18-1796E66E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4B60-4917-47D9-BF55-4804C1CE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0748A-CDE4-4B1D-9560-671E93FF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50C94-AB50-4F7C-ABC1-BCB207F2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568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D8C3-01CB-4726-821A-64943A45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D673E-2179-480C-B049-02F2EAF80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25604-EEA9-4A25-9D94-7F24F87D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7C401-AD9A-46B0-B2CE-CFE0CE49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F6C91-65AD-4BC5-ACAF-10965B2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614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EC-761B-4C96-AC0D-5A243044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9B4A-AE97-4313-A0B9-533773155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C0937-9A96-4125-B38E-70A623DAD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9936D-D285-4557-8D1B-0DF0E4C0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E8561-059C-4832-839E-D49CB01A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314FF-F07C-4C2B-B068-CB4AD02B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81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DFCC-E9BA-411B-9AE9-722D5DC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CC290-7B58-4CB1-B54B-A56E4265E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A2A69-44E4-481A-A6E2-3E4C27FAA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7D3E7-56B3-4EA2-AA1F-9918D16D8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6D1A0-8EC0-481F-A1D0-0FF42982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B4AB8-0AE1-4092-814F-D1CA2234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5D33C-6037-4458-A5A3-14ABCF15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694EE-C25E-4FC9-B785-6FFD5481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26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2457-A83E-44F1-8332-3C1CB4E5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A2E60-1677-4163-9CB8-2EE61225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52911-618E-4F7C-AD54-611E0B43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D8CC7-42D8-4248-A1E1-B5268B24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980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07AE6-9BD8-47B0-B96D-FAA03EC6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85197-003D-4AEA-92ED-48DB52AB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D9676-53C4-46FA-AB91-27C03EC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128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010D-234D-462B-9248-EC5CFFC07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D575F-C4C2-4262-8871-9F94CBC9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1ED68-7F58-420C-AC05-8C05329AB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694D2-BF7E-4F47-9285-57BB694B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47F5B-B633-4AD3-A333-175C0915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4814C-4992-4404-839F-DE94FD67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041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20D9-18BC-4A3F-9D25-A16CA23E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6E367-2D1E-4B39-9D36-99F10280B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C6D51-E30A-4659-8E4D-AC49164ED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84B78-73A0-45DE-B8D4-4016878C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6402B-22E9-46D9-B2F0-CE9431E9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BC9B1-0765-4CA2-A988-7F948ABE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57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863B-97F0-4B08-B314-50DDBFF3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A30F8-D1F2-4C0B-9038-EA438BD34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0FA8-838A-4D7F-95E1-A16995D5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39EAA-D255-4FED-BC7F-5DBB157D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C1C62-F9B6-483E-AC23-487FAFBA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49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90AA1-7C04-45FC-B5DD-3EAD0B7B8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353A7-9346-4DC9-906C-EC76AD36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AF60-A8CB-4241-A8D1-32C134B4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C760-30AA-4D49-9235-56ECDC12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9A362-DB4E-4501-BD4D-5DB4D3DC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74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A4665-4AC3-484B-8A74-2EAAE7B5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E5871-4C05-4C81-9E4A-A7E3D07FC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A229E-6841-4C28-A1B0-644C64831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E8641-91D5-471D-9DFD-52FB177CB0BF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94D4-E004-4F27-8CBB-A9E626213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C019-7B37-4B25-8128-69F3033C4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D81BA-A850-4071-9B94-DB9DB4837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111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5F781A-0E17-4975-BD77-F21257BF5CBC}"/>
              </a:ext>
            </a:extLst>
          </p:cNvPr>
          <p:cNvSpPr txBox="1"/>
          <p:nvPr/>
        </p:nvSpPr>
        <p:spPr>
          <a:xfrm>
            <a:off x="6167848" y="1783959"/>
            <a:ext cx="5607385" cy="27040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End User Problems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E2320-A97B-4A0B-9709-00B2D7846B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2301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82884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2A90A0-CA2E-4FAC-917F-8E45B3965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319" y="2911187"/>
            <a:ext cx="1363919" cy="3655867"/>
          </a:xfrm>
          <a:prstGeom prst="rect">
            <a:avLst/>
          </a:prstGeom>
        </p:spPr>
      </p:pic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DF89A762-5D29-4582-9B93-901C4895C151}"/>
              </a:ext>
            </a:extLst>
          </p:cNvPr>
          <p:cNvSpPr/>
          <p:nvPr/>
        </p:nvSpPr>
        <p:spPr>
          <a:xfrm>
            <a:off x="3872209" y="180110"/>
            <a:ext cx="2820506" cy="1616363"/>
          </a:xfrm>
          <a:prstGeom prst="cloudCallout">
            <a:avLst>
              <a:gd name="adj1" fmla="val -16326"/>
              <a:gd name="adj2" fmla="val 124956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Future </a:t>
            </a:r>
            <a:r>
              <a:rPr lang="en-IN" b="1" dirty="0">
                <a:solidFill>
                  <a:srgbClr val="FF0000"/>
                </a:solidFill>
              </a:rPr>
              <a:t>demands</a:t>
            </a:r>
            <a:r>
              <a:rPr lang="en-IN" dirty="0">
                <a:solidFill>
                  <a:schemeClr val="tx1"/>
                </a:solidFill>
              </a:rPr>
              <a:t>, reduce time to close the request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00BF3618-64D0-4A4E-9317-B2F1634B41EB}"/>
              </a:ext>
            </a:extLst>
          </p:cNvPr>
          <p:cNvSpPr/>
          <p:nvPr/>
        </p:nvSpPr>
        <p:spPr>
          <a:xfrm>
            <a:off x="206877" y="817419"/>
            <a:ext cx="3020291" cy="1616363"/>
          </a:xfrm>
          <a:prstGeom prst="cloudCallout">
            <a:avLst>
              <a:gd name="adj1" fmla="val 94320"/>
              <a:gd name="adj2" fmla="val 86543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</a:t>
            </a:r>
            <a:r>
              <a:rPr lang="en-IN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talent pool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skill set visibility to hiring team</a:t>
            </a:r>
            <a:endParaRPr lang="en-A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FDB109CB-3AB4-4155-B4E9-B3B9C52C846D}"/>
              </a:ext>
            </a:extLst>
          </p:cNvPr>
          <p:cNvSpPr/>
          <p:nvPr/>
        </p:nvSpPr>
        <p:spPr>
          <a:xfrm>
            <a:off x="7337756" y="247843"/>
            <a:ext cx="3445821" cy="1548630"/>
          </a:xfrm>
          <a:prstGeom prst="cloudCallout">
            <a:avLst>
              <a:gd name="adj1" fmla="val -112712"/>
              <a:gd name="adj2" fmla="val 12828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Utilize</a:t>
            </a:r>
            <a:r>
              <a:rPr lang="en-IN" dirty="0">
                <a:solidFill>
                  <a:schemeClr val="tx1"/>
                </a:solidFill>
              </a:rPr>
              <a:t> and </a:t>
            </a:r>
            <a:r>
              <a:rPr lang="en-IN" b="1" dirty="0">
                <a:solidFill>
                  <a:srgbClr val="FF0000"/>
                </a:solidFill>
              </a:rPr>
              <a:t>engage</a:t>
            </a:r>
            <a:r>
              <a:rPr lang="en-IN" dirty="0">
                <a:solidFill>
                  <a:schemeClr val="tx1"/>
                </a:solidFill>
              </a:rPr>
              <a:t> existing talent pool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D497CA86-141E-4A3F-856A-81BAC6C1AC9B}"/>
              </a:ext>
            </a:extLst>
          </p:cNvPr>
          <p:cNvSpPr/>
          <p:nvPr/>
        </p:nvSpPr>
        <p:spPr>
          <a:xfrm>
            <a:off x="8204828" y="2136872"/>
            <a:ext cx="3445821" cy="1548630"/>
          </a:xfrm>
          <a:prstGeom prst="cloudCallout">
            <a:avLst>
              <a:gd name="adj1" fmla="val -129331"/>
              <a:gd name="adj2" fmla="val 2271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Look at </a:t>
            </a:r>
            <a:r>
              <a:rPr lang="en-IN" b="1" dirty="0">
                <a:solidFill>
                  <a:srgbClr val="FF0000"/>
                </a:solidFill>
              </a:rPr>
              <a:t>their carrier path</a:t>
            </a:r>
            <a:r>
              <a:rPr lang="en-IN" dirty="0">
                <a:solidFill>
                  <a:schemeClr val="tx1"/>
                </a:solidFill>
              </a:rPr>
              <a:t> and work on employee </a:t>
            </a:r>
            <a:r>
              <a:rPr lang="en-IN" b="1" dirty="0">
                <a:solidFill>
                  <a:srgbClr val="FF0000"/>
                </a:solidFill>
              </a:rPr>
              <a:t>retention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6B483-84AF-4A29-B5AE-43664CA2069A}"/>
              </a:ext>
            </a:extLst>
          </p:cNvPr>
          <p:cNvSpPr txBox="1"/>
          <p:nvPr/>
        </p:nvSpPr>
        <p:spPr>
          <a:xfrm>
            <a:off x="895927" y="5449455"/>
            <a:ext cx="1363919" cy="369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Pain Points</a:t>
            </a:r>
            <a:endParaRPr lang="en-AU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2505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9375-0C7F-4A95-BDA8-5F2235CC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340" y="379887"/>
            <a:ext cx="6586491" cy="1286160"/>
          </a:xfrm>
        </p:spPr>
        <p:txBody>
          <a:bodyPr anchor="b">
            <a:normAutofit/>
          </a:bodyPr>
          <a:lstStyle/>
          <a:p>
            <a:r>
              <a:rPr lang="en-IN" dirty="0"/>
              <a:t>Proposed solution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75D47-0C0F-4576-8DA0-E610A20AB3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9" r="13022"/>
          <a:stretch/>
        </p:blipFill>
        <p:spPr>
          <a:xfrm>
            <a:off x="21" y="10"/>
            <a:ext cx="4289758" cy="6857990"/>
          </a:xfrm>
          <a:prstGeom prst="rect">
            <a:avLst/>
          </a:prstGeom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D5A5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00690-A021-413E-BBA3-599BB923E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254" y="2444488"/>
            <a:ext cx="6776720" cy="4108702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Proactive model </a:t>
            </a:r>
            <a:r>
              <a:rPr lang="en-IN" sz="2000" dirty="0"/>
              <a:t>to list down the future demands for talents, based on Historical data Analytics.</a:t>
            </a:r>
          </a:p>
          <a:p>
            <a:r>
              <a:rPr lang="en-IN" sz="2000" dirty="0"/>
              <a:t>Recommendation engine based on </a:t>
            </a:r>
            <a:r>
              <a:rPr lang="en-IN" sz="2000" b="1" dirty="0">
                <a:solidFill>
                  <a:srgbClr val="0070C0"/>
                </a:solidFill>
              </a:rPr>
              <a:t>Machine learning </a:t>
            </a:r>
            <a:r>
              <a:rPr lang="en-IN" sz="2000" dirty="0"/>
              <a:t>(Multi-dimension vector), to look on the internal talent pool for skills sets, availability/current utilization, cost and performance metrics.</a:t>
            </a:r>
          </a:p>
          <a:p>
            <a:r>
              <a:rPr lang="en-IN" sz="2000" dirty="0"/>
              <a:t>Recommendation engine for employee on technology training to build their career path </a:t>
            </a:r>
            <a:r>
              <a:rPr lang="en-IN" sz="2000" u="sng" dirty="0"/>
              <a:t>and improve overall </a:t>
            </a:r>
            <a:r>
              <a:rPr lang="en-IN" sz="2000" b="1" u="sng" dirty="0">
                <a:solidFill>
                  <a:srgbClr val="0070C0"/>
                </a:solidFill>
              </a:rPr>
              <a:t>profile score.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Visibility</a:t>
            </a:r>
            <a:r>
              <a:rPr lang="en-IN" sz="2000" dirty="0"/>
              <a:t> of open project for employees desired technology/skills </a:t>
            </a:r>
          </a:p>
          <a:p>
            <a:r>
              <a:rPr lang="en-IN" sz="2000" dirty="0"/>
              <a:t>Flexibility to employee to pitch in for small or</a:t>
            </a:r>
            <a:r>
              <a:rPr lang="en-IN" sz="2000" b="1" dirty="0">
                <a:solidFill>
                  <a:srgbClr val="0070C0"/>
                </a:solidFill>
              </a:rPr>
              <a:t> </a:t>
            </a:r>
            <a:r>
              <a:rPr lang="en-IN" sz="2000" b="1" dirty="0" err="1">
                <a:solidFill>
                  <a:srgbClr val="0070C0"/>
                </a:solidFill>
              </a:rPr>
              <a:t>adhoc</a:t>
            </a:r>
            <a:r>
              <a:rPr lang="en-IN" sz="2000" b="1" dirty="0">
                <a:solidFill>
                  <a:srgbClr val="0070C0"/>
                </a:solidFill>
              </a:rPr>
              <a:t> assignment </a:t>
            </a:r>
            <a:r>
              <a:rPr lang="en-IN" sz="2000" dirty="0"/>
              <a:t>to improve </a:t>
            </a:r>
            <a:r>
              <a:rPr lang="en-IN" sz="2000" u="sng" dirty="0"/>
              <a:t>the profile score system</a:t>
            </a:r>
            <a:r>
              <a:rPr lang="en-IN" sz="2000" dirty="0"/>
              <a:t>. </a:t>
            </a:r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38986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BF6CA1-8B16-47AF-8A3E-7889B8679ADA}"/>
              </a:ext>
            </a:extLst>
          </p:cNvPr>
          <p:cNvSpPr txBox="1"/>
          <p:nvPr/>
        </p:nvSpPr>
        <p:spPr>
          <a:xfrm>
            <a:off x="4451459" y="644168"/>
            <a:ext cx="252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 Level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28BEA-416E-4A8F-9482-677944A7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24" y="3922136"/>
            <a:ext cx="1047750" cy="676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5373A0-7165-4EF1-864A-BD02969B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72" y="2119799"/>
            <a:ext cx="1047750" cy="676275"/>
          </a:xfrm>
          <a:prstGeom prst="rect">
            <a:avLst/>
          </a:prstGeom>
        </p:spPr>
      </p:pic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15901BD1-3679-4126-92E1-4596252D90BE}"/>
              </a:ext>
            </a:extLst>
          </p:cNvPr>
          <p:cNvSpPr/>
          <p:nvPr/>
        </p:nvSpPr>
        <p:spPr>
          <a:xfrm>
            <a:off x="9382125" y="1972612"/>
            <a:ext cx="1326718" cy="3037465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Master Database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1D801A1-9E8E-4944-A9A1-C065C12EC5F4}"/>
              </a:ext>
            </a:extLst>
          </p:cNvPr>
          <p:cNvGrpSpPr/>
          <p:nvPr/>
        </p:nvGrpSpPr>
        <p:grpSpPr>
          <a:xfrm>
            <a:off x="6323414" y="1547054"/>
            <a:ext cx="2517354" cy="3689928"/>
            <a:chOff x="4847071" y="1482435"/>
            <a:chExt cx="2517354" cy="368992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9A2588-5622-4A87-8DDA-8335A7684CBD}"/>
                </a:ext>
              </a:extLst>
            </p:cNvPr>
            <p:cNvSpPr/>
            <p:nvPr/>
          </p:nvSpPr>
          <p:spPr>
            <a:xfrm>
              <a:off x="4847071" y="1482435"/>
              <a:ext cx="2435801" cy="36899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C3F4B1E-476E-4C84-8002-9735D64570F1}"/>
                </a:ext>
              </a:extLst>
            </p:cNvPr>
            <p:cNvSpPr txBox="1"/>
            <p:nvPr/>
          </p:nvSpPr>
          <p:spPr>
            <a:xfrm>
              <a:off x="5004535" y="1778181"/>
              <a:ext cx="23598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Recommendation engine</a:t>
              </a:r>
              <a:endParaRPr lang="en-AU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818068C-245B-4A15-B723-9674DB271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8128" y="2699617"/>
              <a:ext cx="1913685" cy="1971675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6CF9801-4B3E-4B5E-B594-5F8AC8469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017" y="2597040"/>
            <a:ext cx="1632397" cy="15899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5EB2506-6F94-4A11-9DB8-FDD4DCE9C6F6}"/>
              </a:ext>
            </a:extLst>
          </p:cNvPr>
          <p:cNvSpPr txBox="1"/>
          <p:nvPr/>
        </p:nvSpPr>
        <p:spPr>
          <a:xfrm>
            <a:off x="4403627" y="2119799"/>
            <a:ext cx="1765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API Gateway</a:t>
            </a:r>
            <a:endParaRPr lang="en-AU" dirty="0"/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AE5AF8FD-CB86-4ECD-B28F-C48C209B9EAB}"/>
              </a:ext>
            </a:extLst>
          </p:cNvPr>
          <p:cNvSpPr/>
          <p:nvPr/>
        </p:nvSpPr>
        <p:spPr>
          <a:xfrm>
            <a:off x="8831538" y="3392017"/>
            <a:ext cx="469034" cy="24711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3CE5A1-1841-4C1F-943D-0B759AA27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537" y="3578477"/>
            <a:ext cx="1502951" cy="121703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DBA7D5-DA4D-4913-A68A-7ED937B073F0}"/>
              </a:ext>
            </a:extLst>
          </p:cNvPr>
          <p:cNvSpPr txBox="1"/>
          <p:nvPr/>
        </p:nvSpPr>
        <p:spPr>
          <a:xfrm>
            <a:off x="2871147" y="4735911"/>
            <a:ext cx="1765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CHAT BOT</a:t>
            </a:r>
            <a:endParaRPr lang="en-AU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C908D25-B114-4165-95C2-25A7A7115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922" y="1988164"/>
            <a:ext cx="1332640" cy="110634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FF1DB3A-AA69-4E68-910C-359BE764F2AD}"/>
              </a:ext>
            </a:extLst>
          </p:cNvPr>
          <p:cNvSpPr txBox="1"/>
          <p:nvPr/>
        </p:nvSpPr>
        <p:spPr>
          <a:xfrm>
            <a:off x="2810784" y="1591290"/>
            <a:ext cx="1765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UI Interface</a:t>
            </a:r>
            <a:endParaRPr lang="en-A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D1DC49-AD56-4F90-9B0B-6F4881FB226E}"/>
              </a:ext>
            </a:extLst>
          </p:cNvPr>
          <p:cNvSpPr txBox="1"/>
          <p:nvPr/>
        </p:nvSpPr>
        <p:spPr>
          <a:xfrm>
            <a:off x="974527" y="5556698"/>
            <a:ext cx="2727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 Technologies used: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Python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Angular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Azure &amp; </a:t>
            </a:r>
            <a:r>
              <a:rPr lang="en-IN" sz="1400" dirty="0" err="1"/>
              <a:t>.Net</a:t>
            </a:r>
            <a:r>
              <a:rPr lang="en-IN" sz="1400" dirty="0"/>
              <a:t> core (BOT)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23459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0D24-F5ED-4A5C-8E66-F8D4042A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Benefits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A402E-3825-46A6-A4EB-F5F83DA10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345334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/>
              <a:t>Visibility to </a:t>
            </a:r>
            <a:r>
              <a:rPr lang="en-IN" sz="2400" b="1" dirty="0">
                <a:solidFill>
                  <a:srgbClr val="00B050"/>
                </a:solidFill>
              </a:rPr>
              <a:t>internal talent pool </a:t>
            </a:r>
            <a:r>
              <a:rPr lang="en-IN" sz="2400" dirty="0"/>
              <a:t>skill sets</a:t>
            </a:r>
          </a:p>
          <a:p>
            <a:r>
              <a:rPr lang="en-IN" sz="2400" b="1" dirty="0">
                <a:solidFill>
                  <a:srgbClr val="00B050"/>
                </a:solidFill>
              </a:rPr>
              <a:t>Quick access to top recommended talent/employee list </a:t>
            </a:r>
            <a:r>
              <a:rPr lang="en-IN" sz="2400" dirty="0"/>
              <a:t>based on qualifying factors like (availability, performance, cost etc.) for demands.</a:t>
            </a:r>
          </a:p>
          <a:p>
            <a:r>
              <a:rPr lang="en-IN" sz="2400" b="1" dirty="0">
                <a:solidFill>
                  <a:srgbClr val="00B050"/>
                </a:solidFill>
              </a:rPr>
              <a:t>Happy Employee: </a:t>
            </a:r>
            <a:r>
              <a:rPr lang="en-IN" sz="2400" dirty="0"/>
              <a:t>Platform for employee to work on cross business and desired technology project.</a:t>
            </a:r>
          </a:p>
          <a:p>
            <a:r>
              <a:rPr lang="en-IN" sz="2400" b="1" dirty="0">
                <a:solidFill>
                  <a:srgbClr val="00B050"/>
                </a:solidFill>
              </a:rPr>
              <a:t>Employee driven, </a:t>
            </a:r>
            <a:r>
              <a:rPr lang="en-IN" sz="2400" dirty="0"/>
              <a:t>build carrier path.</a:t>
            </a:r>
          </a:p>
          <a:p>
            <a:r>
              <a:rPr lang="en-IN" sz="2400" b="1" dirty="0">
                <a:solidFill>
                  <a:srgbClr val="00B050"/>
                </a:solidFill>
              </a:rPr>
              <a:t>Mobility</a:t>
            </a:r>
            <a:r>
              <a:rPr lang="en-IN" sz="2400" dirty="0"/>
              <a:t>: with interactive interface like chat bot.</a:t>
            </a:r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6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74357-6091-4F36-9C70-864470E7C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26" y="322695"/>
            <a:ext cx="1866900" cy="125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E37A45-00A4-4446-9606-94BF83BD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906" y="1502759"/>
            <a:ext cx="1201738" cy="1654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3919CB-CF5B-466D-BCA5-53E7E4E3969E}"/>
              </a:ext>
            </a:extLst>
          </p:cNvPr>
          <p:cNvSpPr txBox="1"/>
          <p:nvPr/>
        </p:nvSpPr>
        <p:spPr>
          <a:xfrm>
            <a:off x="2515326" y="406399"/>
            <a:ext cx="832631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Recruitment team to Analyse the existing talent pool’s skill set to match with demands.</a:t>
            </a:r>
          </a:p>
          <a:p>
            <a:pPr lvl="1"/>
            <a:r>
              <a:rPr lang="en-IN" sz="1400" dirty="0"/>
              <a:t>Manual efforts may take half a day to list down the employees with matching (or nearest technology) </a:t>
            </a:r>
          </a:p>
          <a:p>
            <a:pPr lvl="1"/>
            <a:r>
              <a:rPr lang="en-IN" sz="1400" dirty="0"/>
              <a:t>based on availability, cost and performance.   </a:t>
            </a:r>
            <a:endParaRPr lang="en-A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9EBA7-6B15-4E5C-AD26-3201769AB62A}"/>
              </a:ext>
            </a:extLst>
          </p:cNvPr>
          <p:cNvSpPr txBox="1"/>
          <p:nvPr/>
        </p:nvSpPr>
        <p:spPr>
          <a:xfrm>
            <a:off x="5717309" y="1684149"/>
            <a:ext cx="3922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solution provides:  the desired list with in a second.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45F5E-393F-4A2D-92FE-74719451B98D}"/>
              </a:ext>
            </a:extLst>
          </p:cNvPr>
          <p:cNvSpPr txBox="1"/>
          <p:nvPr/>
        </p:nvSpPr>
        <p:spPr>
          <a:xfrm>
            <a:off x="6678485" y="2327204"/>
            <a:ext cx="328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Cost saving: half day man efforts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102D71-6A73-41B8-8359-6CE6125B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23" y="3240228"/>
            <a:ext cx="3110778" cy="15766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A0E7C2-B512-4837-9FB9-C474B8FDDE18}"/>
              </a:ext>
            </a:extLst>
          </p:cNvPr>
          <p:cNvSpPr txBox="1"/>
          <p:nvPr/>
        </p:nvSpPr>
        <p:spPr>
          <a:xfrm>
            <a:off x="3291346" y="3659459"/>
            <a:ext cx="886370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Employee career – list of training to scale-up desired skill set.</a:t>
            </a:r>
          </a:p>
          <a:p>
            <a:pPr lvl="1"/>
            <a:r>
              <a:rPr lang="en-IN" sz="1400" dirty="0"/>
              <a:t>Currently it’s difficult to find the desired list of training and mentor in organization to help in building career path.</a:t>
            </a:r>
          </a:p>
          <a:p>
            <a:pPr lvl="1"/>
            <a:endParaRPr lang="en-IN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51A78C-1AD0-4C42-A8D9-CB6E5EE45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660" y="4816859"/>
            <a:ext cx="1556616" cy="15423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9D9373-44A1-4551-B457-3399DF3FA039}"/>
              </a:ext>
            </a:extLst>
          </p:cNvPr>
          <p:cNvSpPr txBox="1"/>
          <p:nvPr/>
        </p:nvSpPr>
        <p:spPr>
          <a:xfrm>
            <a:off x="5843429" y="4638871"/>
            <a:ext cx="3922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solution provides: </a:t>
            </a:r>
            <a:r>
              <a:rPr lang="en-IN" sz="1400" dirty="0">
                <a:solidFill>
                  <a:schemeClr val="accent1"/>
                </a:solidFill>
              </a:rPr>
              <a:t> relevant list of training based on current skill level along with mentor.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3090D9-DAE4-4098-9E97-E2F1BC99CA49}"/>
              </a:ext>
            </a:extLst>
          </p:cNvPr>
          <p:cNvSpPr txBox="1"/>
          <p:nvPr/>
        </p:nvSpPr>
        <p:spPr>
          <a:xfrm>
            <a:off x="6160654" y="5588039"/>
            <a:ext cx="328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Helping building career path</a:t>
            </a:r>
            <a:endParaRPr lang="en-AU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41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C9EFE1-D8CB-4668-9980-DB108327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5" y="0"/>
            <a:ext cx="627156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BAE1BD-B8E4-4029-8AA2-C77E4FED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8EF99D-07CC-4D59-AC6A-008A3F48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691" y="389741"/>
            <a:ext cx="5271350" cy="1401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000000"/>
                </a:solidFill>
              </a:rPr>
              <a:t>Estimated time &amp; cost</a:t>
            </a:r>
          </a:p>
        </p:txBody>
      </p:sp>
      <p:sp>
        <p:nvSpPr>
          <p:cNvPr id="20" name="Freeform 49">
            <a:extLst>
              <a:ext uri="{FF2B5EF4-FFF2-40B4-BE49-F238E27FC236}">
                <a16:creationId xmlns:a16="http://schemas.microsoft.com/office/drawing/2014/main" id="{77DA6D33-2D62-458C-BF5D-DBF612FD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90635"/>
            <a:ext cx="5478085" cy="62768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accent3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C66AE5-A1A1-434C-9899-932A8A3FE3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/>
          </a:blip>
          <a:srcRect l="15034" r="13055" b="-1"/>
          <a:stretch/>
        </p:blipFill>
        <p:spPr>
          <a:xfrm>
            <a:off x="1" y="770037"/>
            <a:ext cx="5298683" cy="6097438"/>
          </a:xfrm>
          <a:custGeom>
            <a:avLst/>
            <a:gdLst>
              <a:gd name="connsiteX0" fmla="*/ 2178155 w 5298683"/>
              <a:gd name="connsiteY0" fmla="*/ 0 h 6097438"/>
              <a:gd name="connsiteX1" fmla="*/ 5298683 w 5298683"/>
              <a:gd name="connsiteY1" fmla="*/ 3120527 h 6097438"/>
              <a:gd name="connsiteX2" fmla="*/ 3392805 w 5298683"/>
              <a:gd name="connsiteY2" fmla="*/ 5995828 h 6097438"/>
              <a:gd name="connsiteX3" fmla="*/ 3115184 w 5298683"/>
              <a:gd name="connsiteY3" fmla="*/ 6097438 h 6097438"/>
              <a:gd name="connsiteX4" fmla="*/ 1241127 w 5298683"/>
              <a:gd name="connsiteY4" fmla="*/ 6097438 h 6097438"/>
              <a:gd name="connsiteX5" fmla="*/ 963506 w 5298683"/>
              <a:gd name="connsiteY5" fmla="*/ 5995828 h 6097438"/>
              <a:gd name="connsiteX6" fmla="*/ 193210 w 5298683"/>
              <a:gd name="connsiteY6" fmla="*/ 5528477 h 6097438"/>
              <a:gd name="connsiteX7" fmla="*/ 0 w 5298683"/>
              <a:gd name="connsiteY7" fmla="*/ 5352876 h 6097438"/>
              <a:gd name="connsiteX8" fmla="*/ 0 w 5298683"/>
              <a:gd name="connsiteY8" fmla="*/ 888178 h 6097438"/>
              <a:gd name="connsiteX9" fmla="*/ 193210 w 5298683"/>
              <a:gd name="connsiteY9" fmla="*/ 712577 h 6097438"/>
              <a:gd name="connsiteX10" fmla="*/ 2178155 w 5298683"/>
              <a:gd name="connsiteY10" fmla="*/ 0 h 609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98683" h="6097438">
                <a:moveTo>
                  <a:pt x="2178155" y="0"/>
                </a:moveTo>
                <a:cubicBezTo>
                  <a:pt x="3901575" y="0"/>
                  <a:pt x="5298683" y="1397108"/>
                  <a:pt x="5298683" y="3120527"/>
                </a:cubicBezTo>
                <a:cubicBezTo>
                  <a:pt x="5298683" y="4413092"/>
                  <a:pt x="4512810" y="5522106"/>
                  <a:pt x="3392805" y="5995828"/>
                </a:cubicBezTo>
                <a:lnTo>
                  <a:pt x="3115184" y="6097438"/>
                </a:lnTo>
                <a:lnTo>
                  <a:pt x="1241127" y="6097438"/>
                </a:lnTo>
                <a:lnTo>
                  <a:pt x="963506" y="5995828"/>
                </a:lnTo>
                <a:cubicBezTo>
                  <a:pt x="683504" y="5877397"/>
                  <a:pt x="424387" y="5719261"/>
                  <a:pt x="193210" y="5528477"/>
                </a:cubicBezTo>
                <a:lnTo>
                  <a:pt x="0" y="5352876"/>
                </a:lnTo>
                <a:lnTo>
                  <a:pt x="0" y="888178"/>
                </a:lnTo>
                <a:lnTo>
                  <a:pt x="193210" y="712577"/>
                </a:lnTo>
                <a:cubicBezTo>
                  <a:pt x="732621" y="267415"/>
                  <a:pt x="1424159" y="0"/>
                  <a:pt x="217815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CDD5F7-BEE5-4F33-B556-DDCA5E2365E9}"/>
              </a:ext>
            </a:extLst>
          </p:cNvPr>
          <p:cNvSpPr txBox="1"/>
          <p:nvPr/>
        </p:nvSpPr>
        <p:spPr>
          <a:xfrm>
            <a:off x="6811521" y="2180930"/>
            <a:ext cx="5380478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Interface: 	UI &amp; Dashboard (4 weeks)</a:t>
            </a:r>
          </a:p>
          <a:p>
            <a:r>
              <a:rPr lang="en-IN" sz="1100" dirty="0"/>
              <a:t>                	BOT Interface development and Integration with LUIS (4 weeks)</a:t>
            </a:r>
          </a:p>
          <a:p>
            <a:r>
              <a:rPr lang="en-IN" sz="1100" dirty="0"/>
              <a:t>Rec. Engine:	 4 weeks Development</a:t>
            </a:r>
          </a:p>
          <a:p>
            <a:r>
              <a:rPr lang="en-IN" sz="1100" dirty="0"/>
              <a:t>Database and integration with other system: 4 Weeks</a:t>
            </a:r>
          </a:p>
          <a:p>
            <a:endParaRPr lang="en-IN" sz="1100" dirty="0">
              <a:solidFill>
                <a:schemeClr val="bg1"/>
              </a:solidFill>
            </a:endParaRPr>
          </a:p>
          <a:p>
            <a:r>
              <a:rPr lang="en-IN" sz="1100" dirty="0">
                <a:solidFill>
                  <a:srgbClr val="FF0000"/>
                </a:solidFill>
              </a:rPr>
              <a:t>Approx.: 4 Months </a:t>
            </a:r>
            <a:r>
              <a:rPr lang="en-IN" sz="1600" dirty="0">
                <a:solidFill>
                  <a:srgbClr val="FF0000"/>
                </a:solidFill>
              </a:rPr>
              <a:t>= $80k</a:t>
            </a:r>
            <a:endParaRPr lang="en-AU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96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1F8A44-98F9-4449-9B62-9007E1B6BE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3"/>
          <a:stretch/>
        </p:blipFill>
        <p:spPr>
          <a:xfrm rot="5400000">
            <a:off x="-1110377" y="1110377"/>
            <a:ext cx="6858000" cy="4637246"/>
          </a:xfrm>
          <a:prstGeom prst="rect">
            <a:avLst/>
          </a:prstGeom>
        </p:spPr>
      </p:pic>
      <p:sp>
        <p:nvSpPr>
          <p:cNvPr id="14" name="Rectangle 9">
            <a:extLst>
              <a:ext uri="{FF2B5EF4-FFF2-40B4-BE49-F238E27FC236}">
                <a16:creationId xmlns:a16="http://schemas.microsoft.com/office/drawing/2014/main" id="{B9951BD9-0868-4CDB-ACD6-9C4209B5E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7247" y="0"/>
            <a:ext cx="755475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85E74-B6D7-4773-A70B-8405FA0E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328" y="640082"/>
            <a:ext cx="6274591" cy="33516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309721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381</Words>
  <Application>Microsoft Office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Proposed solution</vt:lpstr>
      <vt:lpstr>PowerPoint Presentation</vt:lpstr>
      <vt:lpstr>Business Benefits</vt:lpstr>
      <vt:lpstr>PowerPoint Presentation</vt:lpstr>
      <vt:lpstr>Estimated time &amp; cost</vt:lpstr>
      <vt:lpstr>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Bharadwaj, Deepak</dc:creator>
  <cp:lastModifiedBy>Bharadwaj, Deepak</cp:lastModifiedBy>
  <cp:revision>10</cp:revision>
  <dcterms:created xsi:type="dcterms:W3CDTF">2019-09-03T14:13:01Z</dcterms:created>
  <dcterms:modified xsi:type="dcterms:W3CDTF">2019-09-03T15:10:22Z</dcterms:modified>
</cp:coreProperties>
</file>